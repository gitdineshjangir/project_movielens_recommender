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975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8673-A035-EC85-C7DA-A21C2B9B2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E5ACB-42D3-61DB-C8F5-5C2F07774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6ABB53-9483-227F-B01C-3D9C80FF4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DD3895-1D78-5313-2ADE-9EC5EF4BD1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8241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8.jpe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8.jpeg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jpeg"/><Relationship Id="rId7" Type="http://schemas.openxmlformats.org/officeDocument/2006/relationships/image" Target="../media/image48.png"/><Relationship Id="rId12" Type="http://schemas.openxmlformats.org/officeDocument/2006/relationships/image" Target="../media/image5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MovieLens Recommender System&#10;&#10;AI-generated content may be incorrect.">
            <a:extLst>
              <a:ext uri="{FF2B5EF4-FFF2-40B4-BE49-F238E27FC236}">
                <a16:creationId xmlns:a16="http://schemas.microsoft.com/office/drawing/2014/main" id="{FA760005-A6F7-AA05-E2F2-944B53A65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75" y="0"/>
            <a:ext cx="77152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525" y="4412797"/>
            <a:ext cx="7584622" cy="431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4000"/>
              </a:lnSpc>
              <a:buNone/>
            </a:pPr>
            <a:r>
              <a:rPr lang="en-US" sz="1400" b="1" i="1" dirty="0">
                <a:solidFill>
                  <a:schemeClr val="bg1"/>
                </a:solidFill>
                <a:latin typeface="Montserrat" pitchFamily="34" charset="0"/>
              </a:rPr>
              <a:t>The Technical perspective</a:t>
            </a:r>
            <a:endParaRPr lang="en-US" sz="2000" i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D8AE3-1612-B9B7-D155-67E6CE794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6700770F-099E-FD16-4E19-463454754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F953E10C-E2A9-CEF4-329D-2B25568F8737}"/>
              </a:ext>
            </a:extLst>
          </p:cNvPr>
          <p:cNvSpPr/>
          <p:nvPr/>
        </p:nvSpPr>
        <p:spPr>
          <a:xfrm>
            <a:off x="571500" y="428625"/>
            <a:ext cx="8572500" cy="9644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Overview</a:t>
            </a:r>
          </a:p>
          <a:p>
            <a:pPr marL="0" indent="0" algn="l">
              <a:lnSpc>
                <a:spcPts val="4000"/>
              </a:lnSpc>
              <a:buNone/>
            </a:pPr>
            <a:endParaRPr lang="en-US" sz="20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AD1AFAF-CAEE-88B6-9123-7753E1E19F6B}"/>
              </a:ext>
            </a:extLst>
          </p:cNvPr>
          <p:cNvSpPr/>
          <p:nvPr/>
        </p:nvSpPr>
        <p:spPr>
          <a:xfrm>
            <a:off x="571500" y="1920218"/>
            <a:ext cx="3786188" cy="32232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76EBFDC-93AC-5B8C-4692-3330BBBBEB3F}"/>
              </a:ext>
            </a:extLst>
          </p:cNvPr>
          <p:cNvSpPr/>
          <p:nvPr/>
        </p:nvSpPr>
        <p:spPr>
          <a:xfrm>
            <a:off x="571500" y="1920218"/>
            <a:ext cx="3786188" cy="28575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C472B578-FD05-E4FA-A66A-573DE97E1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2230971"/>
            <a:ext cx="228600" cy="22860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8A399374-0957-7CA5-1256-B00EE8280380}"/>
              </a:ext>
            </a:extLst>
          </p:cNvPr>
          <p:cNvSpPr/>
          <p:nvPr/>
        </p:nvSpPr>
        <p:spPr>
          <a:xfrm>
            <a:off x="1193006" y="2205968"/>
            <a:ext cx="1830586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Problem &amp; Task</a:t>
            </a:r>
            <a:endParaRPr lang="en-US" sz="1602" dirty="0"/>
          </a:p>
        </p:txBody>
      </p:sp>
      <p:pic>
        <p:nvPicPr>
          <p:cNvPr id="8" name="Image 2" descr="preencoded.png">
            <a:extLst>
              <a:ext uri="{FF2B5EF4-FFF2-40B4-BE49-F238E27FC236}">
                <a16:creationId xmlns:a16="http://schemas.microsoft.com/office/drawing/2014/main" id="{28698A00-DC32-4503-760E-8EB893E964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2698886"/>
            <a:ext cx="114300" cy="642938"/>
          </a:xfrm>
          <a:prstGeom prst="rect">
            <a:avLst/>
          </a:prstGeom>
        </p:spPr>
      </p:pic>
      <p:sp>
        <p:nvSpPr>
          <p:cNvPr id="9" name="Text 4">
            <a:extLst>
              <a:ext uri="{FF2B5EF4-FFF2-40B4-BE49-F238E27FC236}">
                <a16:creationId xmlns:a16="http://schemas.microsoft.com/office/drawing/2014/main" id="{E7BAF582-E397-92E4-A410-5C82F2C90957}"/>
              </a:ext>
            </a:extLst>
          </p:cNvPr>
          <p:cNvSpPr/>
          <p:nvPr/>
        </p:nvSpPr>
        <p:spPr>
          <a:xfrm>
            <a:off x="1057275" y="2656024"/>
            <a:ext cx="30146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Problem:</a:t>
            </a: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Enhancing item discovery and relevance to drive conversion and engagement.</a:t>
            </a:r>
            <a:endParaRPr lang="en-US" sz="987" dirty="0"/>
          </a:p>
        </p:txBody>
      </p:sp>
      <p:pic>
        <p:nvPicPr>
          <p:cNvPr id="10" name="Image 3" descr="preencoded.png">
            <a:extLst>
              <a:ext uri="{FF2B5EF4-FFF2-40B4-BE49-F238E27FC236}">
                <a16:creationId xmlns:a16="http://schemas.microsoft.com/office/drawing/2014/main" id="{399FD951-52BF-FCDD-99FE-9E13C7213D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3498986"/>
            <a:ext cx="114300" cy="414338"/>
          </a:xfrm>
          <a:prstGeom prst="rect">
            <a:avLst/>
          </a:prstGeom>
        </p:spPr>
      </p:pic>
      <p:sp>
        <p:nvSpPr>
          <p:cNvPr id="11" name="Text 5">
            <a:extLst>
              <a:ext uri="{FF2B5EF4-FFF2-40B4-BE49-F238E27FC236}">
                <a16:creationId xmlns:a16="http://schemas.microsoft.com/office/drawing/2014/main" id="{2A44C430-0AB3-386F-6F88-4E8BFCDB3B4E}"/>
              </a:ext>
            </a:extLst>
          </p:cNvPr>
          <p:cNvSpPr/>
          <p:nvPr/>
        </p:nvSpPr>
        <p:spPr>
          <a:xfrm>
            <a:off x="1057275" y="3456124"/>
            <a:ext cx="3014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Task:</a:t>
            </a: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Top-N Recommendation and Ranking of products for active users.</a:t>
            </a:r>
            <a:endParaRPr lang="en-US" sz="987" dirty="0"/>
          </a:p>
        </p:txBody>
      </p:sp>
      <p:pic>
        <p:nvPicPr>
          <p:cNvPr id="12" name="Image 4" descr="preencoded.png">
            <a:extLst>
              <a:ext uri="{FF2B5EF4-FFF2-40B4-BE49-F238E27FC236}">
                <a16:creationId xmlns:a16="http://schemas.microsoft.com/office/drawing/2014/main" id="{220A99C5-DD7C-83A7-CD57-AF96468914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4070486"/>
            <a:ext cx="114300" cy="642938"/>
          </a:xfrm>
          <a:prstGeom prst="rect">
            <a:avLst/>
          </a:prstGeom>
        </p:spPr>
      </p:pic>
      <p:sp>
        <p:nvSpPr>
          <p:cNvPr id="13" name="Text 6">
            <a:extLst>
              <a:ext uri="{FF2B5EF4-FFF2-40B4-BE49-F238E27FC236}">
                <a16:creationId xmlns:a16="http://schemas.microsoft.com/office/drawing/2014/main" id="{03CC003A-6103-58C6-3E1B-FD2F4F37C960}"/>
              </a:ext>
            </a:extLst>
          </p:cNvPr>
          <p:cNvSpPr/>
          <p:nvPr/>
        </p:nvSpPr>
        <p:spPr>
          <a:xfrm>
            <a:off x="1057275" y="4027624"/>
            <a:ext cx="30146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Proxy Justification:</a:t>
            </a: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050" dirty="0" err="1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MovieLens</a:t>
            </a: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maps </a:t>
            </a:r>
            <a:r>
              <a:rPr lang="en-US" sz="105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Users</a:t>
            </a: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Customers and </a:t>
            </a:r>
            <a:r>
              <a:rPr lang="en-US" sz="1050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Ratings</a:t>
            </a: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Explicit preference signals.</a:t>
            </a:r>
            <a:endParaRPr lang="en-US" sz="987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C0A77388-6A11-E1D3-A95B-EC5C639F0E0D}"/>
              </a:ext>
            </a:extLst>
          </p:cNvPr>
          <p:cNvSpPr/>
          <p:nvPr/>
        </p:nvSpPr>
        <p:spPr>
          <a:xfrm>
            <a:off x="4786313" y="1920218"/>
            <a:ext cx="3786188" cy="32232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8">
            <a:extLst>
              <a:ext uri="{FF2B5EF4-FFF2-40B4-BE49-F238E27FC236}">
                <a16:creationId xmlns:a16="http://schemas.microsoft.com/office/drawing/2014/main" id="{056595C4-465F-02E5-3167-5ED136ACD13E}"/>
              </a:ext>
            </a:extLst>
          </p:cNvPr>
          <p:cNvSpPr/>
          <p:nvPr/>
        </p:nvSpPr>
        <p:spPr>
          <a:xfrm>
            <a:off x="4786313" y="1920218"/>
            <a:ext cx="3786188" cy="28575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6" name="Image 5" descr="preencoded.png">
            <a:extLst>
              <a:ext uri="{FF2B5EF4-FFF2-40B4-BE49-F238E27FC236}">
                <a16:creationId xmlns:a16="http://schemas.microsoft.com/office/drawing/2014/main" id="{B6849095-43DE-87DC-BBE6-5871017B35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063" y="2230971"/>
            <a:ext cx="200025" cy="228600"/>
          </a:xfrm>
          <a:prstGeom prst="rect">
            <a:avLst/>
          </a:prstGeom>
        </p:spPr>
      </p:pic>
      <p:sp>
        <p:nvSpPr>
          <p:cNvPr id="17" name="Text 9">
            <a:extLst>
              <a:ext uri="{FF2B5EF4-FFF2-40B4-BE49-F238E27FC236}">
                <a16:creationId xmlns:a16="http://schemas.microsoft.com/office/drawing/2014/main" id="{97243ED5-EA3C-047A-E9F7-DAD167DC2D92}"/>
              </a:ext>
            </a:extLst>
          </p:cNvPr>
          <p:cNvSpPr/>
          <p:nvPr/>
        </p:nvSpPr>
        <p:spPr>
          <a:xfrm>
            <a:off x="5379244" y="2205968"/>
            <a:ext cx="1737717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Overview</a:t>
            </a:r>
            <a:endParaRPr lang="en-US" sz="1602" dirty="0"/>
          </a:p>
        </p:txBody>
      </p:sp>
      <p:pic>
        <p:nvPicPr>
          <p:cNvPr id="18" name="Image 6" descr="preencoded.png">
            <a:extLst>
              <a:ext uri="{FF2B5EF4-FFF2-40B4-BE49-F238E27FC236}">
                <a16:creationId xmlns:a16="http://schemas.microsoft.com/office/drawing/2014/main" id="{B838FA73-69D5-79FF-47E6-6C5FA048BF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2063" y="2698886"/>
            <a:ext cx="114300" cy="414338"/>
          </a:xfrm>
          <a:prstGeom prst="rect">
            <a:avLst/>
          </a:prstGeom>
        </p:spPr>
      </p:pic>
      <p:sp>
        <p:nvSpPr>
          <p:cNvPr id="19" name="Text 10">
            <a:extLst>
              <a:ext uri="{FF2B5EF4-FFF2-40B4-BE49-F238E27FC236}">
                <a16:creationId xmlns:a16="http://schemas.microsoft.com/office/drawing/2014/main" id="{CD3BD800-17D2-7389-8546-01913EC0CD8D}"/>
              </a:ext>
            </a:extLst>
          </p:cNvPr>
          <p:cNvSpPr/>
          <p:nvPr/>
        </p:nvSpPr>
        <p:spPr>
          <a:xfrm>
            <a:off x="5272088" y="2656024"/>
            <a:ext cx="30146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</a:t>
            </a: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MovieLens Latest Small (ml-latest-small)</a:t>
            </a:r>
            <a:endParaRPr lang="en-US" sz="987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66740BB4-20B8-59FD-8E8B-277E41D213E2}"/>
              </a:ext>
            </a:extLst>
          </p:cNvPr>
          <p:cNvSpPr/>
          <p:nvPr/>
        </p:nvSpPr>
        <p:spPr>
          <a:xfrm>
            <a:off x="5072063" y="3256099"/>
            <a:ext cx="1535906" cy="66794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4D8768EF-0447-3C6A-DA6D-CB705DECAB1D}"/>
              </a:ext>
            </a:extLst>
          </p:cNvPr>
          <p:cNvSpPr/>
          <p:nvPr/>
        </p:nvSpPr>
        <p:spPr>
          <a:xfrm>
            <a:off x="5214938" y="3398974"/>
            <a:ext cx="125015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100,836</a:t>
            </a:r>
            <a:endParaRPr lang="en-US" sz="1397" dirty="0"/>
          </a:p>
        </p:txBody>
      </p:sp>
      <p:sp>
        <p:nvSpPr>
          <p:cNvPr id="22" name="Text 13">
            <a:extLst>
              <a:ext uri="{FF2B5EF4-FFF2-40B4-BE49-F238E27FC236}">
                <a16:creationId xmlns:a16="http://schemas.microsoft.com/office/drawing/2014/main" id="{B29D762F-0492-95E6-F04B-AD2AF77CEF2C}"/>
              </a:ext>
            </a:extLst>
          </p:cNvPr>
          <p:cNvSpPr/>
          <p:nvPr/>
        </p:nvSpPr>
        <p:spPr>
          <a:xfrm>
            <a:off x="5586413" y="3656149"/>
            <a:ext cx="50720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RATINGS</a:t>
            </a:r>
            <a:endParaRPr lang="en-US" sz="683" dirty="0"/>
          </a:p>
        </p:txBody>
      </p:sp>
      <p:sp>
        <p:nvSpPr>
          <p:cNvPr id="23" name="Shape 14">
            <a:extLst>
              <a:ext uri="{FF2B5EF4-FFF2-40B4-BE49-F238E27FC236}">
                <a16:creationId xmlns:a16="http://schemas.microsoft.com/office/drawing/2014/main" id="{198A48AF-6EA0-A6F8-D696-966C1F0968A0}"/>
              </a:ext>
            </a:extLst>
          </p:cNvPr>
          <p:cNvSpPr/>
          <p:nvPr/>
        </p:nvSpPr>
        <p:spPr>
          <a:xfrm>
            <a:off x="6750844" y="3256099"/>
            <a:ext cx="1535906" cy="66794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2BDBF1EC-B7DA-DBF3-A0B4-F4063A099A69}"/>
              </a:ext>
            </a:extLst>
          </p:cNvPr>
          <p:cNvSpPr/>
          <p:nvPr/>
        </p:nvSpPr>
        <p:spPr>
          <a:xfrm>
            <a:off x="6893719" y="3398974"/>
            <a:ext cx="125015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9,742</a:t>
            </a:r>
            <a:endParaRPr lang="en-US" sz="1397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ABEE5496-B525-4858-20B2-122B1B1A2A12}"/>
              </a:ext>
            </a:extLst>
          </p:cNvPr>
          <p:cNvSpPr/>
          <p:nvPr/>
        </p:nvSpPr>
        <p:spPr>
          <a:xfrm>
            <a:off x="7291983" y="3656149"/>
            <a:ext cx="4536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MOVIES</a:t>
            </a:r>
            <a:endParaRPr lang="en-US" sz="683" dirty="0"/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78BB7AED-1575-C863-901C-F8BA7573E346}"/>
              </a:ext>
            </a:extLst>
          </p:cNvPr>
          <p:cNvSpPr/>
          <p:nvPr/>
        </p:nvSpPr>
        <p:spPr>
          <a:xfrm>
            <a:off x="5072063" y="4066915"/>
            <a:ext cx="1535906" cy="66794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741F55B9-03E9-A6BB-F17D-10D729380DF9}"/>
              </a:ext>
            </a:extLst>
          </p:cNvPr>
          <p:cNvSpPr/>
          <p:nvPr/>
        </p:nvSpPr>
        <p:spPr>
          <a:xfrm>
            <a:off x="5214938" y="4209790"/>
            <a:ext cx="125015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3,683</a:t>
            </a:r>
            <a:endParaRPr lang="en-US" sz="1397" dirty="0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1A146EA3-0FE9-5B95-8F6F-0538D881101A}"/>
              </a:ext>
            </a:extLst>
          </p:cNvPr>
          <p:cNvSpPr/>
          <p:nvPr/>
        </p:nvSpPr>
        <p:spPr>
          <a:xfrm>
            <a:off x="5690890" y="4466965"/>
            <a:ext cx="298252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TAGS</a:t>
            </a:r>
            <a:endParaRPr lang="en-US" sz="683" dirty="0"/>
          </a:p>
        </p:txBody>
      </p:sp>
      <p:sp>
        <p:nvSpPr>
          <p:cNvPr id="29" name="Shape 20">
            <a:extLst>
              <a:ext uri="{FF2B5EF4-FFF2-40B4-BE49-F238E27FC236}">
                <a16:creationId xmlns:a16="http://schemas.microsoft.com/office/drawing/2014/main" id="{E59F6C95-A0CF-AE9B-3B98-7998E952C9CC}"/>
              </a:ext>
            </a:extLst>
          </p:cNvPr>
          <p:cNvSpPr/>
          <p:nvPr/>
        </p:nvSpPr>
        <p:spPr>
          <a:xfrm>
            <a:off x="6750844" y="4066915"/>
            <a:ext cx="1535906" cy="667941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0B1F3584-4B77-EE52-F472-8F7230C986B2}"/>
              </a:ext>
            </a:extLst>
          </p:cNvPr>
          <p:cNvSpPr/>
          <p:nvPr/>
        </p:nvSpPr>
        <p:spPr>
          <a:xfrm>
            <a:off x="6893719" y="4209790"/>
            <a:ext cx="1250156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397" dirty="0"/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8C6BE2A1-9F8D-0BCB-ADB2-A4CF60484BC5}"/>
              </a:ext>
            </a:extLst>
          </p:cNvPr>
          <p:cNvSpPr/>
          <p:nvPr/>
        </p:nvSpPr>
        <p:spPr>
          <a:xfrm>
            <a:off x="7157145" y="4466965"/>
            <a:ext cx="72330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MISSING IDS</a:t>
            </a:r>
            <a:endParaRPr lang="en-US" sz="683" dirty="0"/>
          </a:p>
        </p:txBody>
      </p:sp>
    </p:spTree>
    <p:extLst>
      <p:ext uri="{BB962C8B-B14F-4D97-AF65-F5344CB8AC3E}">
        <p14:creationId xmlns:p14="http://schemas.microsoft.com/office/powerpoint/2010/main" val="3606692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85750"/>
            <a:ext cx="3652242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EDA Key Findings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428625" y="846534"/>
            <a:ext cx="3675459" cy="138053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8" y="1022449"/>
            <a:ext cx="192881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4394" y="1003697"/>
            <a:ext cx="169485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Rating Distribution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585788" y="1298377"/>
            <a:ext cx="3361134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Highly positive skew: most ratings cluster between 3.0 and 5.0, with 4.0 being the modal value. Indicates general user satisfaction but potential ceiling effects.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428625" y="2369939"/>
            <a:ext cx="3675459" cy="1187648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88" y="2545854"/>
            <a:ext cx="192881" cy="1714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64394" y="2527102"/>
            <a:ext cx="142875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Catalog Sparsity</a:t>
            </a:r>
            <a:endParaRPr lang="en-US" sz="1193" dirty="0"/>
          </a:p>
        </p:txBody>
      </p:sp>
      <p:sp>
        <p:nvSpPr>
          <p:cNvPr id="11" name="Text 6"/>
          <p:cNvSpPr/>
          <p:nvPr/>
        </p:nvSpPr>
        <p:spPr>
          <a:xfrm>
            <a:off x="585788" y="2821781"/>
            <a:ext cx="336113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Extreme matrix sparsity (98%+). Most users interact with a tiny fraction of the 9,742 movies, emphasizing the need for robust collaborative filtering.</a:t>
            </a:r>
            <a:endParaRPr lang="en-US" sz="942" dirty="0"/>
          </a:p>
        </p:txBody>
      </p:sp>
      <p:sp>
        <p:nvSpPr>
          <p:cNvPr id="12" name="Shape 7"/>
          <p:cNvSpPr/>
          <p:nvPr/>
        </p:nvSpPr>
        <p:spPr>
          <a:xfrm>
            <a:off x="428625" y="3700463"/>
            <a:ext cx="3675459" cy="1187648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88" y="3876377"/>
            <a:ext cx="171450" cy="1714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2963" y="3857625"/>
            <a:ext cx="164842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Long-Tail Behavior</a:t>
            </a:r>
            <a:endParaRPr lang="en-US" sz="1193" dirty="0"/>
          </a:p>
        </p:txBody>
      </p:sp>
      <p:sp>
        <p:nvSpPr>
          <p:cNvPr id="15" name="Text 9"/>
          <p:cNvSpPr/>
          <p:nvPr/>
        </p:nvSpPr>
        <p:spPr>
          <a:xfrm>
            <a:off x="585788" y="4152305"/>
            <a:ext cx="3361134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Popularity-head items dominate interaction counts. The long tail contains thousands of niche items with very low visibility.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4304109" y="846534"/>
            <a:ext cx="4411266" cy="3261122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291" y="989409"/>
            <a:ext cx="4111228" cy="271462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447291" y="3811191"/>
            <a:ext cx="41252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RATING FREQUENCY DISTRIBUTION</a:t>
            </a:r>
            <a:endParaRPr lang="en-US" sz="78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23255"/>
            <a:ext cx="342900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85750"/>
            <a:ext cx="6036469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Feature Engineering Approach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428625" y="917972"/>
            <a:ext cx="2619356" cy="260635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2"/>
          <p:cNvSpPr/>
          <p:nvPr/>
        </p:nvSpPr>
        <p:spPr>
          <a:xfrm>
            <a:off x="428625" y="917972"/>
            <a:ext cx="2619356" cy="42863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1151037"/>
            <a:ext cx="150019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78681" y="1132284"/>
            <a:ext cx="121979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Features</a:t>
            </a:r>
            <a:endParaRPr lang="en-US" sz="1193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1512689"/>
            <a:ext cx="100013" cy="33145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14388" y="1484114"/>
            <a:ext cx="20192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Interaction counts &amp; engagement frequency</a:t>
            </a:r>
            <a:endParaRPr lang="en-US" sz="942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8" y="1958448"/>
            <a:ext cx="100013" cy="33145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14388" y="1929873"/>
            <a:ext cx="20192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Historical mean rating &amp; variance</a:t>
            </a:r>
            <a:endParaRPr lang="en-US" sz="942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938" y="2404207"/>
            <a:ext cx="100013" cy="331459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14388" y="2375632"/>
            <a:ext cx="20192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Multi-dimensional genre affinity vectors</a:t>
            </a:r>
            <a:endParaRPr lang="en-US" sz="942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8" y="2849966"/>
            <a:ext cx="100013" cy="331459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14388" y="2821391"/>
            <a:ext cx="20192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Recency-weighted interaction signals</a:t>
            </a:r>
            <a:endParaRPr lang="en-US" sz="942" dirty="0"/>
          </a:p>
        </p:txBody>
      </p:sp>
      <p:sp>
        <p:nvSpPr>
          <p:cNvPr id="17" name="Shape 8"/>
          <p:cNvSpPr/>
          <p:nvPr/>
        </p:nvSpPr>
        <p:spPr>
          <a:xfrm>
            <a:off x="3262294" y="917972"/>
            <a:ext cx="2619384" cy="256349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9"/>
          <p:cNvSpPr/>
          <p:nvPr/>
        </p:nvSpPr>
        <p:spPr>
          <a:xfrm>
            <a:off x="3262294" y="917972"/>
            <a:ext cx="2619384" cy="42863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6606" y="1151037"/>
            <a:ext cx="150019" cy="17145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3712350" y="1132284"/>
            <a:ext cx="123051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 Features</a:t>
            </a:r>
            <a:endParaRPr lang="en-US" sz="1193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6606" y="1512689"/>
            <a:ext cx="100013" cy="331459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3648056" y="1484114"/>
            <a:ext cx="201930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Popularity metrics (log-scaled counts)</a:t>
            </a:r>
            <a:endParaRPr lang="en-US" sz="942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76606" y="1958448"/>
            <a:ext cx="100013" cy="331459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3648056" y="1929873"/>
            <a:ext cx="201930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Metadata: One-hot encoded genres</a:t>
            </a:r>
            <a:endParaRPr lang="en-US" sz="942" dirty="0"/>
          </a:p>
        </p:txBody>
      </p:sp>
      <p:pic>
        <p:nvPicPr>
          <p:cNvPr id="2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76606" y="2404207"/>
            <a:ext cx="100013" cy="331459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3648056" y="2375632"/>
            <a:ext cx="2019309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 quality: Mean rating &amp; global rank</a:t>
            </a:r>
            <a:endParaRPr lang="en-US" sz="942" dirty="0"/>
          </a:p>
        </p:txBody>
      </p:sp>
      <p:pic>
        <p:nvPicPr>
          <p:cNvPr id="27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76606" y="2849966"/>
            <a:ext cx="100013" cy="151442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3648056" y="2821391"/>
            <a:ext cx="198417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Temporal: Release year &amp; aging</a:t>
            </a:r>
            <a:endParaRPr lang="en-US" sz="942" dirty="0"/>
          </a:p>
        </p:txBody>
      </p:sp>
      <p:sp>
        <p:nvSpPr>
          <p:cNvPr id="29" name="Shape 15"/>
          <p:cNvSpPr/>
          <p:nvPr/>
        </p:nvSpPr>
        <p:spPr>
          <a:xfrm>
            <a:off x="6095991" y="917972"/>
            <a:ext cx="2619356" cy="256349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" name="Shape 16"/>
          <p:cNvSpPr/>
          <p:nvPr/>
        </p:nvSpPr>
        <p:spPr>
          <a:xfrm>
            <a:off x="6095991" y="917972"/>
            <a:ext cx="2619356" cy="42863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31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0303" y="1151037"/>
            <a:ext cx="214313" cy="171450"/>
          </a:xfrm>
          <a:prstGeom prst="rect">
            <a:avLst/>
          </a:prstGeom>
        </p:spPr>
      </p:pic>
      <p:sp>
        <p:nvSpPr>
          <p:cNvPr id="32" name="Text 17"/>
          <p:cNvSpPr/>
          <p:nvPr/>
        </p:nvSpPr>
        <p:spPr>
          <a:xfrm>
            <a:off x="6610341" y="1132284"/>
            <a:ext cx="178950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Interaction Features</a:t>
            </a:r>
            <a:endParaRPr lang="en-US" sz="1193" dirty="0"/>
          </a:p>
        </p:txBody>
      </p:sp>
      <p:pic>
        <p:nvPicPr>
          <p:cNvPr id="33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10303" y="1512689"/>
            <a:ext cx="100013" cy="151442"/>
          </a:xfrm>
          <a:prstGeom prst="rect">
            <a:avLst/>
          </a:prstGeom>
        </p:spPr>
      </p:pic>
      <p:sp>
        <p:nvSpPr>
          <p:cNvPr id="34" name="Text 18"/>
          <p:cNvSpPr/>
          <p:nvPr/>
        </p:nvSpPr>
        <p:spPr>
          <a:xfrm>
            <a:off x="6481753" y="1484114"/>
            <a:ext cx="1996678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User-Item genre overlap scores</a:t>
            </a:r>
            <a:endParaRPr lang="en-US" sz="942" dirty="0"/>
          </a:p>
        </p:txBody>
      </p:sp>
      <p:pic>
        <p:nvPicPr>
          <p:cNvPr id="35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10303" y="1778431"/>
            <a:ext cx="100013" cy="331459"/>
          </a:xfrm>
          <a:prstGeom prst="rect">
            <a:avLst/>
          </a:prstGeom>
        </p:spPr>
      </p:pic>
      <p:sp>
        <p:nvSpPr>
          <p:cNvPr id="36" name="Text 19"/>
          <p:cNvSpPr/>
          <p:nvPr/>
        </p:nvSpPr>
        <p:spPr>
          <a:xfrm>
            <a:off x="6481753" y="1749856"/>
            <a:ext cx="20192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Deviation from user &amp; item means</a:t>
            </a:r>
            <a:endParaRPr lang="en-US" sz="942" dirty="0"/>
          </a:p>
        </p:txBody>
      </p:sp>
      <p:pic>
        <p:nvPicPr>
          <p:cNvPr id="3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10303" y="2224190"/>
            <a:ext cx="100013" cy="331459"/>
          </a:xfrm>
          <a:prstGeom prst="rect">
            <a:avLst/>
          </a:prstGeom>
        </p:spPr>
      </p:pic>
      <p:sp>
        <p:nvSpPr>
          <p:cNvPr id="38" name="Text 20"/>
          <p:cNvSpPr/>
          <p:nvPr/>
        </p:nvSpPr>
        <p:spPr>
          <a:xfrm>
            <a:off x="6481753" y="2195615"/>
            <a:ext cx="20192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Collaborative preference proxies</a:t>
            </a:r>
            <a:endParaRPr lang="en-US" sz="942" dirty="0"/>
          </a:p>
        </p:txBody>
      </p:sp>
      <p:pic>
        <p:nvPicPr>
          <p:cNvPr id="39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10303" y="2669949"/>
            <a:ext cx="100013" cy="331459"/>
          </a:xfrm>
          <a:prstGeom prst="rect">
            <a:avLst/>
          </a:prstGeom>
        </p:spPr>
      </p:pic>
      <p:sp>
        <p:nvSpPr>
          <p:cNvPr id="40" name="Text 21"/>
          <p:cNvSpPr/>
          <p:nvPr/>
        </p:nvSpPr>
        <p:spPr>
          <a:xfrm>
            <a:off x="6481753" y="2641374"/>
            <a:ext cx="20192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Popularity-adjusted preference scores</a:t>
            </a:r>
            <a:endParaRPr lang="en-US" sz="942" dirty="0"/>
          </a:p>
        </p:txBody>
      </p:sp>
      <p:sp>
        <p:nvSpPr>
          <p:cNvPr id="41" name="Shape 22"/>
          <p:cNvSpPr/>
          <p:nvPr/>
        </p:nvSpPr>
        <p:spPr>
          <a:xfrm>
            <a:off x="428625" y="3767212"/>
            <a:ext cx="8286750" cy="104577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2" name="Text 23"/>
          <p:cNvSpPr/>
          <p:nvPr/>
        </p:nvSpPr>
        <p:spPr>
          <a:xfrm>
            <a:off x="642938" y="4047213"/>
            <a:ext cx="21431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Dimensionality Reduction (PCA)</a:t>
            </a:r>
            <a:endParaRPr lang="en-US" sz="1397" dirty="0"/>
          </a:p>
        </p:txBody>
      </p:sp>
      <p:sp>
        <p:nvSpPr>
          <p:cNvPr id="43" name="Text 24"/>
          <p:cNvSpPr/>
          <p:nvPr/>
        </p:nvSpPr>
        <p:spPr>
          <a:xfrm>
            <a:off x="3071813" y="3981524"/>
            <a:ext cx="5429250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Engineered features are projected into a lower-dimensional space using PCA. This identifies latent structures, reduces redundancy, and optimizes the feature space for the reranking layer while maintaining 90%+ of explained variance.</a:t>
            </a:r>
            <a:endParaRPr lang="en-US" sz="94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23255"/>
            <a:ext cx="342900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85750"/>
            <a:ext cx="6256139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Model Selection &amp; Methodology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428625" y="846534"/>
            <a:ext cx="8286750" cy="1254733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2"/>
          <p:cNvSpPr/>
          <p:nvPr/>
        </p:nvSpPr>
        <p:spPr>
          <a:xfrm>
            <a:off x="428625" y="846534"/>
            <a:ext cx="57150" cy="1254733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3"/>
          <p:cNvSpPr/>
          <p:nvPr/>
        </p:nvSpPr>
        <p:spPr>
          <a:xfrm>
            <a:off x="607219" y="1025128"/>
            <a:ext cx="79295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Experimental Design: Chronological Validation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607219" y="1305520"/>
            <a:ext cx="79295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 simulate a production environment and prevent </a:t>
            </a:r>
            <a:r>
              <a:rPr lang="en-US" sz="885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temporal leakage</a:t>
            </a:r>
            <a:r>
              <a:rPr lang="en-US" sz="942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 80/20 chronological split is applied per user. Models are trained on past interactions to predict future behavior, ensuring the evaluation reflects real-world predictive utility.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428625" y="2315580"/>
            <a:ext cx="1543050" cy="282792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556" y="2494173"/>
            <a:ext cx="357188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5781" y="2922798"/>
            <a:ext cx="132873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Popularity Baseline</a:t>
            </a:r>
            <a:endParaRPr lang="en-US" sz="987" dirty="0"/>
          </a:p>
        </p:txBody>
      </p:sp>
      <p:sp>
        <p:nvSpPr>
          <p:cNvPr id="12" name="Text 7"/>
          <p:cNvSpPr/>
          <p:nvPr/>
        </p:nvSpPr>
        <p:spPr>
          <a:xfrm>
            <a:off x="535781" y="3387142"/>
            <a:ext cx="1328738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Non-personalized global ranking. Serves as the primary sanity check and cold-start default.</a:t>
            </a:r>
            <a:endParaRPr lang="en-US" sz="727" dirty="0"/>
          </a:p>
        </p:txBody>
      </p:sp>
      <p:sp>
        <p:nvSpPr>
          <p:cNvPr id="13" name="Shape 8"/>
          <p:cNvSpPr/>
          <p:nvPr/>
        </p:nvSpPr>
        <p:spPr>
          <a:xfrm>
            <a:off x="919758" y="4804172"/>
            <a:ext cx="560784" cy="16073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9"/>
          <p:cNvSpPr/>
          <p:nvPr/>
        </p:nvSpPr>
        <p:spPr>
          <a:xfrm>
            <a:off x="919758" y="4804172"/>
            <a:ext cx="560784" cy="16073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BASELINE</a:t>
            </a:r>
            <a:endParaRPr lang="en-US" sz="584" dirty="0"/>
          </a:p>
        </p:txBody>
      </p:sp>
      <p:sp>
        <p:nvSpPr>
          <p:cNvPr id="15" name="Shape 10"/>
          <p:cNvSpPr/>
          <p:nvPr/>
        </p:nvSpPr>
        <p:spPr>
          <a:xfrm>
            <a:off x="2114550" y="2315580"/>
            <a:ext cx="1543050" cy="282792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7481" y="2494173"/>
            <a:ext cx="357188" cy="2857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318147" y="2922798"/>
            <a:ext cx="113585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Item-Item KNN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2221706" y="3387142"/>
            <a:ext cx="132873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Neighborhood-based CF using cosine similarity on sparse interaction vectors.</a:t>
            </a:r>
            <a:endParaRPr lang="en-US" sz="727" dirty="0"/>
          </a:p>
        </p:txBody>
      </p:sp>
      <p:sp>
        <p:nvSpPr>
          <p:cNvPr id="19" name="Shape 13"/>
          <p:cNvSpPr/>
          <p:nvPr/>
        </p:nvSpPr>
        <p:spPr>
          <a:xfrm>
            <a:off x="2452985" y="4804172"/>
            <a:ext cx="866180" cy="16073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4"/>
          <p:cNvSpPr/>
          <p:nvPr/>
        </p:nvSpPr>
        <p:spPr>
          <a:xfrm>
            <a:off x="2452985" y="4804172"/>
            <a:ext cx="866180" cy="16073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COLLABORATIVE</a:t>
            </a:r>
            <a:endParaRPr lang="en-US" sz="584" dirty="0"/>
          </a:p>
        </p:txBody>
      </p:sp>
      <p:sp>
        <p:nvSpPr>
          <p:cNvPr id="21" name="Shape 15"/>
          <p:cNvSpPr/>
          <p:nvPr/>
        </p:nvSpPr>
        <p:spPr>
          <a:xfrm>
            <a:off x="3800475" y="2315580"/>
            <a:ext cx="1543050" cy="282792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9125" y="2494173"/>
            <a:ext cx="285750" cy="28575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02286" y="2922798"/>
            <a:ext cx="113942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Truncated SVD</a:t>
            </a:r>
            <a:endParaRPr lang="en-US" sz="987" dirty="0"/>
          </a:p>
        </p:txBody>
      </p:sp>
      <p:sp>
        <p:nvSpPr>
          <p:cNvPr id="24" name="Text 17"/>
          <p:cNvSpPr/>
          <p:nvPr/>
        </p:nvSpPr>
        <p:spPr>
          <a:xfrm>
            <a:off x="3907631" y="3387142"/>
            <a:ext cx="1328738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Matrix factorization capturing latent user-item preference dimensions.</a:t>
            </a:r>
            <a:endParaRPr lang="en-US" sz="727" dirty="0"/>
          </a:p>
        </p:txBody>
      </p:sp>
      <p:sp>
        <p:nvSpPr>
          <p:cNvPr id="25" name="Shape 18"/>
          <p:cNvSpPr/>
          <p:nvPr/>
        </p:nvSpPr>
        <p:spPr>
          <a:xfrm>
            <a:off x="4150519" y="4804172"/>
            <a:ext cx="842963" cy="16073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19"/>
          <p:cNvSpPr/>
          <p:nvPr/>
        </p:nvSpPr>
        <p:spPr>
          <a:xfrm>
            <a:off x="4150519" y="4804172"/>
            <a:ext cx="842963" cy="16073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LATENT FACTOR</a:t>
            </a:r>
            <a:endParaRPr lang="en-US" sz="584" dirty="0"/>
          </a:p>
        </p:txBody>
      </p:sp>
      <p:sp>
        <p:nvSpPr>
          <p:cNvPr id="27" name="Shape 20"/>
          <p:cNvSpPr/>
          <p:nvPr/>
        </p:nvSpPr>
        <p:spPr>
          <a:xfrm>
            <a:off x="5486400" y="2315580"/>
            <a:ext cx="1543050" cy="2827920"/>
          </a:xfrm>
          <a:prstGeom prst="rect">
            <a:avLst/>
          </a:prstGeom>
          <a:solidFill>
            <a:srgbClr val="FFFFFF"/>
          </a:solidFill>
          <a:ln w="9144">
            <a:solidFill>
              <a:srgbClr val="E2E8F0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15050" y="2494173"/>
            <a:ext cx="285750" cy="28575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689104" y="2922798"/>
            <a:ext cx="1137642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Content-Based</a:t>
            </a:r>
            <a:endParaRPr lang="en-US" sz="987" dirty="0"/>
          </a:p>
        </p:txBody>
      </p:sp>
      <p:sp>
        <p:nvSpPr>
          <p:cNvPr id="30" name="Text 22"/>
          <p:cNvSpPr/>
          <p:nvPr/>
        </p:nvSpPr>
        <p:spPr>
          <a:xfrm>
            <a:off x="5593556" y="3387142"/>
            <a:ext cx="1328738" cy="560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TF-IDF and genre similarity mapping for metadata-driven discovery.</a:t>
            </a:r>
            <a:endParaRPr lang="en-US" sz="727" dirty="0"/>
          </a:p>
        </p:txBody>
      </p:sp>
      <p:sp>
        <p:nvSpPr>
          <p:cNvPr id="31" name="Shape 23"/>
          <p:cNvSpPr/>
          <p:nvPr/>
        </p:nvSpPr>
        <p:spPr>
          <a:xfrm>
            <a:off x="5952530" y="4804172"/>
            <a:ext cx="610791" cy="16073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24"/>
          <p:cNvSpPr/>
          <p:nvPr/>
        </p:nvSpPr>
        <p:spPr>
          <a:xfrm>
            <a:off x="5952530" y="4804172"/>
            <a:ext cx="610791" cy="160734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METADATA</a:t>
            </a:r>
            <a:endParaRPr lang="en-US" sz="584" dirty="0"/>
          </a:p>
        </p:txBody>
      </p:sp>
      <p:sp>
        <p:nvSpPr>
          <p:cNvPr id="33" name="Shape 25"/>
          <p:cNvSpPr/>
          <p:nvPr/>
        </p:nvSpPr>
        <p:spPr>
          <a:xfrm>
            <a:off x="7133749" y="2244882"/>
            <a:ext cx="1620202" cy="2969316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93831" y="2432405"/>
            <a:ext cx="300038" cy="30003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259389" y="2882461"/>
            <a:ext cx="1368921" cy="375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 Ensemble</a:t>
            </a:r>
            <a:endParaRPr lang="en-US" sz="987" dirty="0"/>
          </a:p>
        </p:txBody>
      </p:sp>
      <p:sp>
        <p:nvSpPr>
          <p:cNvPr id="36" name="Text 27"/>
          <p:cNvSpPr/>
          <p:nvPr/>
        </p:nvSpPr>
        <p:spPr>
          <a:xfrm>
            <a:off x="7246263" y="3370022"/>
            <a:ext cx="1395174" cy="441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727" dirty="0">
                <a:solidFill>
                  <a:srgbClr val="CBD5E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Weighted combination of CF and Content signals for optimal ranking.</a:t>
            </a:r>
            <a:endParaRPr lang="en-US" sz="727" dirty="0"/>
          </a:p>
        </p:txBody>
      </p:sp>
      <p:sp>
        <p:nvSpPr>
          <p:cNvPr id="37" name="Shape 28"/>
          <p:cNvSpPr/>
          <p:nvPr/>
        </p:nvSpPr>
        <p:spPr>
          <a:xfrm>
            <a:off x="7269703" y="4857903"/>
            <a:ext cx="1348293" cy="168771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8" name="Text 29"/>
          <p:cNvSpPr/>
          <p:nvPr/>
        </p:nvSpPr>
        <p:spPr>
          <a:xfrm>
            <a:off x="7269703" y="4857903"/>
            <a:ext cx="1348293" cy="168771"/>
          </a:xfrm>
          <a:prstGeom prst="rect">
            <a:avLst/>
          </a:prstGeom>
          <a:noFill/>
          <a:ln/>
        </p:spPr>
        <p:txBody>
          <a:bodyPr wrap="square" lIns="68072" tIns="34036" rIns="68072" bIns="34036" rtlCol="0" anchor="t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584" b="1" dirty="0">
                <a:solidFill>
                  <a:srgbClr val="F9731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PRODUCTION CANDIDATE</a:t>
            </a:r>
            <a:endParaRPr lang="en-US" sz="58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242731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23255"/>
            <a:ext cx="342900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85750"/>
            <a:ext cx="5627489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5. Results &amp; Model Comparison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428625" y="917972"/>
            <a:ext cx="8286750" cy="271283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2"/>
          <p:cNvSpPr/>
          <p:nvPr/>
        </p:nvSpPr>
        <p:spPr>
          <a:xfrm>
            <a:off x="450056" y="917972"/>
            <a:ext cx="2123145" cy="42505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3"/>
          <p:cNvSpPr/>
          <p:nvPr/>
        </p:nvSpPr>
        <p:spPr>
          <a:xfrm>
            <a:off x="450056" y="917972"/>
            <a:ext cx="2123145" cy="42505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ARCHITECTURE</a:t>
            </a:r>
            <a:endParaRPr lang="en-US" sz="784" dirty="0"/>
          </a:p>
        </p:txBody>
      </p:sp>
      <p:sp>
        <p:nvSpPr>
          <p:cNvPr id="8" name="Shape 4"/>
          <p:cNvSpPr/>
          <p:nvPr/>
        </p:nvSpPr>
        <p:spPr>
          <a:xfrm>
            <a:off x="2573201" y="917972"/>
            <a:ext cx="1474515" cy="42505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5"/>
          <p:cNvSpPr/>
          <p:nvPr/>
        </p:nvSpPr>
        <p:spPr>
          <a:xfrm>
            <a:off x="2573201" y="917972"/>
            <a:ext cx="1474515" cy="42505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PRECISION@10</a:t>
            </a:r>
            <a:endParaRPr lang="en-US" sz="784" dirty="0"/>
          </a:p>
        </p:txBody>
      </p:sp>
      <p:sp>
        <p:nvSpPr>
          <p:cNvPr id="10" name="Shape 6"/>
          <p:cNvSpPr/>
          <p:nvPr/>
        </p:nvSpPr>
        <p:spPr>
          <a:xfrm>
            <a:off x="4047716" y="917972"/>
            <a:ext cx="1222167" cy="42505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7"/>
          <p:cNvSpPr/>
          <p:nvPr/>
        </p:nvSpPr>
        <p:spPr>
          <a:xfrm>
            <a:off x="4047716" y="917972"/>
            <a:ext cx="1222167" cy="42505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RECALL@10</a:t>
            </a:r>
            <a:endParaRPr lang="en-US" sz="784" dirty="0"/>
          </a:p>
        </p:txBody>
      </p:sp>
      <p:sp>
        <p:nvSpPr>
          <p:cNvPr id="12" name="Shape 8"/>
          <p:cNvSpPr/>
          <p:nvPr/>
        </p:nvSpPr>
        <p:spPr>
          <a:xfrm>
            <a:off x="5269883" y="917972"/>
            <a:ext cx="1134573" cy="42505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Text 9"/>
          <p:cNvSpPr/>
          <p:nvPr/>
        </p:nvSpPr>
        <p:spPr>
          <a:xfrm>
            <a:off x="5269883" y="917972"/>
            <a:ext cx="1134573" cy="42505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MAP@10</a:t>
            </a:r>
            <a:endParaRPr lang="en-US" sz="784" dirty="0"/>
          </a:p>
        </p:txBody>
      </p:sp>
      <p:sp>
        <p:nvSpPr>
          <p:cNvPr id="14" name="Shape 10"/>
          <p:cNvSpPr/>
          <p:nvPr/>
        </p:nvSpPr>
        <p:spPr>
          <a:xfrm>
            <a:off x="6404456" y="917972"/>
            <a:ext cx="1134573" cy="42505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1"/>
          <p:cNvSpPr/>
          <p:nvPr/>
        </p:nvSpPr>
        <p:spPr>
          <a:xfrm>
            <a:off x="6404456" y="917972"/>
            <a:ext cx="1134573" cy="42505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NDCG@10</a:t>
            </a:r>
            <a:endParaRPr lang="en-US" sz="784" dirty="0"/>
          </a:p>
        </p:txBody>
      </p:sp>
      <p:sp>
        <p:nvSpPr>
          <p:cNvPr id="16" name="Shape 12"/>
          <p:cNvSpPr/>
          <p:nvPr/>
        </p:nvSpPr>
        <p:spPr>
          <a:xfrm>
            <a:off x="7539028" y="917972"/>
            <a:ext cx="1176347" cy="425053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3"/>
          <p:cNvSpPr/>
          <p:nvPr/>
        </p:nvSpPr>
        <p:spPr>
          <a:xfrm>
            <a:off x="7539028" y="917972"/>
            <a:ext cx="1176347" cy="425053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kern="0" spc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COVERAGE</a:t>
            </a:r>
            <a:endParaRPr lang="en-US" sz="784" dirty="0"/>
          </a:p>
        </p:txBody>
      </p:sp>
      <p:sp>
        <p:nvSpPr>
          <p:cNvPr id="18" name="Shape 14"/>
          <p:cNvSpPr/>
          <p:nvPr/>
        </p:nvSpPr>
        <p:spPr>
          <a:xfrm>
            <a:off x="450056" y="1343025"/>
            <a:ext cx="8265319" cy="455414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19" name="Text 15"/>
          <p:cNvSpPr/>
          <p:nvPr/>
        </p:nvSpPr>
        <p:spPr>
          <a:xfrm>
            <a:off x="450056" y="1343025"/>
            <a:ext cx="2123145" cy="455414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 Ensemble</a:t>
            </a:r>
            <a:endParaRPr lang="en-US" sz="987" dirty="0"/>
          </a:p>
        </p:txBody>
      </p:sp>
      <p:sp>
        <p:nvSpPr>
          <p:cNvPr id="20" name="Text 16"/>
          <p:cNvSpPr/>
          <p:nvPr/>
        </p:nvSpPr>
        <p:spPr>
          <a:xfrm>
            <a:off x="2573201" y="1343025"/>
            <a:ext cx="1474515" cy="455414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9731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0.085980</a:t>
            </a:r>
            <a:endParaRPr lang="en-US" sz="987" dirty="0"/>
          </a:p>
        </p:txBody>
      </p:sp>
      <p:sp>
        <p:nvSpPr>
          <p:cNvPr id="21" name="Text 17"/>
          <p:cNvSpPr/>
          <p:nvPr/>
        </p:nvSpPr>
        <p:spPr>
          <a:xfrm>
            <a:off x="4047716" y="1343025"/>
            <a:ext cx="1222167" cy="455414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9731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0.075342</a:t>
            </a:r>
            <a:endParaRPr lang="en-US" sz="987" dirty="0"/>
          </a:p>
        </p:txBody>
      </p:sp>
      <p:sp>
        <p:nvSpPr>
          <p:cNvPr id="22" name="Text 18"/>
          <p:cNvSpPr/>
          <p:nvPr/>
        </p:nvSpPr>
        <p:spPr>
          <a:xfrm>
            <a:off x="5269883" y="1343025"/>
            <a:ext cx="1134573" cy="455414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9731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0.050763</a:t>
            </a:r>
            <a:endParaRPr lang="en-US" sz="987" dirty="0"/>
          </a:p>
        </p:txBody>
      </p:sp>
      <p:sp>
        <p:nvSpPr>
          <p:cNvPr id="23" name="Text 19"/>
          <p:cNvSpPr/>
          <p:nvPr/>
        </p:nvSpPr>
        <p:spPr>
          <a:xfrm>
            <a:off x="6404456" y="1343025"/>
            <a:ext cx="1134573" cy="455414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9731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0.105408</a:t>
            </a:r>
            <a:endParaRPr lang="en-US" sz="987" dirty="0"/>
          </a:p>
        </p:txBody>
      </p:sp>
      <p:sp>
        <p:nvSpPr>
          <p:cNvPr id="24" name="Text 20"/>
          <p:cNvSpPr/>
          <p:nvPr/>
        </p:nvSpPr>
        <p:spPr>
          <a:xfrm>
            <a:off x="7539028" y="1343025"/>
            <a:ext cx="1176347" cy="455414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0.4643</a:t>
            </a:r>
            <a:endParaRPr lang="en-US" sz="987" dirty="0"/>
          </a:p>
        </p:txBody>
      </p:sp>
      <p:sp>
        <p:nvSpPr>
          <p:cNvPr id="25" name="Text 21"/>
          <p:cNvSpPr/>
          <p:nvPr/>
        </p:nvSpPr>
        <p:spPr>
          <a:xfrm>
            <a:off x="450056" y="1798439"/>
            <a:ext cx="2123145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Item-Item KNN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2573201" y="1798439"/>
            <a:ext cx="1474515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0.076014</a:t>
            </a:r>
            <a:endParaRPr lang="en-US" sz="987" dirty="0"/>
          </a:p>
        </p:txBody>
      </p:sp>
      <p:sp>
        <p:nvSpPr>
          <p:cNvPr id="27" name="Text 23"/>
          <p:cNvSpPr/>
          <p:nvPr/>
        </p:nvSpPr>
        <p:spPr>
          <a:xfrm>
            <a:off x="4047716" y="1798439"/>
            <a:ext cx="1222167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0.069900</a:t>
            </a:r>
            <a:endParaRPr lang="en-US" sz="987" dirty="0"/>
          </a:p>
        </p:txBody>
      </p:sp>
      <p:sp>
        <p:nvSpPr>
          <p:cNvPr id="28" name="Text 24"/>
          <p:cNvSpPr/>
          <p:nvPr/>
        </p:nvSpPr>
        <p:spPr>
          <a:xfrm>
            <a:off x="5269883" y="1798439"/>
            <a:ext cx="1134573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0.045680</a:t>
            </a:r>
            <a:endParaRPr lang="en-US" sz="987" dirty="0"/>
          </a:p>
        </p:txBody>
      </p:sp>
      <p:sp>
        <p:nvSpPr>
          <p:cNvPr id="29" name="Text 25"/>
          <p:cNvSpPr/>
          <p:nvPr/>
        </p:nvSpPr>
        <p:spPr>
          <a:xfrm>
            <a:off x="6404456" y="1798439"/>
            <a:ext cx="1134573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0.095920</a:t>
            </a:r>
            <a:endParaRPr lang="en-US" sz="987" dirty="0"/>
          </a:p>
        </p:txBody>
      </p:sp>
      <p:sp>
        <p:nvSpPr>
          <p:cNvPr id="30" name="Text 26"/>
          <p:cNvSpPr/>
          <p:nvPr/>
        </p:nvSpPr>
        <p:spPr>
          <a:xfrm>
            <a:off x="7539028" y="1798439"/>
            <a:ext cx="1176347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0.3227</a:t>
            </a:r>
            <a:endParaRPr lang="en-US" sz="987" dirty="0"/>
          </a:p>
        </p:txBody>
      </p:sp>
      <p:sp>
        <p:nvSpPr>
          <p:cNvPr id="31" name="Text 27"/>
          <p:cNvSpPr/>
          <p:nvPr/>
        </p:nvSpPr>
        <p:spPr>
          <a:xfrm>
            <a:off x="450056" y="2257425"/>
            <a:ext cx="2123145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Truncated SVD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2573201" y="2257425"/>
            <a:ext cx="1474515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0.074155</a:t>
            </a:r>
            <a:endParaRPr lang="en-US" sz="987" dirty="0"/>
          </a:p>
        </p:txBody>
      </p:sp>
      <p:sp>
        <p:nvSpPr>
          <p:cNvPr id="33" name="Text 29"/>
          <p:cNvSpPr/>
          <p:nvPr/>
        </p:nvSpPr>
        <p:spPr>
          <a:xfrm>
            <a:off x="4047716" y="2257425"/>
            <a:ext cx="1222167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0.071690</a:t>
            </a:r>
            <a:endParaRPr lang="en-US" sz="987" dirty="0"/>
          </a:p>
        </p:txBody>
      </p:sp>
      <p:sp>
        <p:nvSpPr>
          <p:cNvPr id="34" name="Text 30"/>
          <p:cNvSpPr/>
          <p:nvPr/>
        </p:nvSpPr>
        <p:spPr>
          <a:xfrm>
            <a:off x="5269883" y="2257425"/>
            <a:ext cx="1134573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0.040874</a:t>
            </a:r>
            <a:endParaRPr lang="en-US" sz="987" dirty="0"/>
          </a:p>
        </p:txBody>
      </p:sp>
      <p:sp>
        <p:nvSpPr>
          <p:cNvPr id="35" name="Text 31"/>
          <p:cNvSpPr/>
          <p:nvPr/>
        </p:nvSpPr>
        <p:spPr>
          <a:xfrm>
            <a:off x="6404456" y="2257425"/>
            <a:ext cx="1134573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0.090231</a:t>
            </a:r>
            <a:endParaRPr lang="en-US" sz="987" dirty="0"/>
          </a:p>
        </p:txBody>
      </p:sp>
      <p:sp>
        <p:nvSpPr>
          <p:cNvPr id="36" name="Text 32"/>
          <p:cNvSpPr/>
          <p:nvPr/>
        </p:nvSpPr>
        <p:spPr>
          <a:xfrm>
            <a:off x="7539028" y="2257425"/>
            <a:ext cx="1176347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97316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0.7808</a:t>
            </a:r>
            <a:endParaRPr lang="en-US" sz="987" dirty="0"/>
          </a:p>
        </p:txBody>
      </p:sp>
      <p:sp>
        <p:nvSpPr>
          <p:cNvPr id="37" name="Text 33"/>
          <p:cNvSpPr/>
          <p:nvPr/>
        </p:nvSpPr>
        <p:spPr>
          <a:xfrm>
            <a:off x="450056" y="2716411"/>
            <a:ext cx="2123145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Popularity Baseline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2573201" y="2716411"/>
            <a:ext cx="1474515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0.060642</a:t>
            </a:r>
            <a:endParaRPr lang="en-US" sz="987" dirty="0"/>
          </a:p>
        </p:txBody>
      </p:sp>
      <p:sp>
        <p:nvSpPr>
          <p:cNvPr id="39" name="Text 35"/>
          <p:cNvSpPr/>
          <p:nvPr/>
        </p:nvSpPr>
        <p:spPr>
          <a:xfrm>
            <a:off x="4047716" y="2716411"/>
            <a:ext cx="1222167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0.049130</a:t>
            </a:r>
            <a:endParaRPr lang="en-US" sz="987" dirty="0"/>
          </a:p>
        </p:txBody>
      </p:sp>
      <p:sp>
        <p:nvSpPr>
          <p:cNvPr id="40" name="Text 36"/>
          <p:cNvSpPr/>
          <p:nvPr/>
        </p:nvSpPr>
        <p:spPr>
          <a:xfrm>
            <a:off x="5269883" y="2716411"/>
            <a:ext cx="1134573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0.038090</a:t>
            </a:r>
            <a:endParaRPr lang="en-US" sz="987" dirty="0"/>
          </a:p>
        </p:txBody>
      </p:sp>
      <p:sp>
        <p:nvSpPr>
          <p:cNvPr id="41" name="Text 37"/>
          <p:cNvSpPr/>
          <p:nvPr/>
        </p:nvSpPr>
        <p:spPr>
          <a:xfrm>
            <a:off x="6404456" y="2716411"/>
            <a:ext cx="1134573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0.078417</a:t>
            </a:r>
            <a:endParaRPr lang="en-US" sz="987" dirty="0"/>
          </a:p>
        </p:txBody>
      </p:sp>
      <p:sp>
        <p:nvSpPr>
          <p:cNvPr id="42" name="Text 38"/>
          <p:cNvSpPr/>
          <p:nvPr/>
        </p:nvSpPr>
        <p:spPr>
          <a:xfrm>
            <a:off x="7539028" y="2716411"/>
            <a:ext cx="1176347" cy="458986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0.1047</a:t>
            </a:r>
            <a:endParaRPr lang="en-US" sz="987" dirty="0"/>
          </a:p>
        </p:txBody>
      </p:sp>
      <p:sp>
        <p:nvSpPr>
          <p:cNvPr id="43" name="Text 39"/>
          <p:cNvSpPr/>
          <p:nvPr/>
        </p:nvSpPr>
        <p:spPr>
          <a:xfrm>
            <a:off x="450056" y="3175397"/>
            <a:ext cx="2123145" cy="455414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Content-Based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2573201" y="3175397"/>
            <a:ext cx="1474515" cy="455414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0.010811</a:t>
            </a:r>
            <a:endParaRPr lang="en-US" sz="987" dirty="0"/>
          </a:p>
        </p:txBody>
      </p:sp>
      <p:sp>
        <p:nvSpPr>
          <p:cNvPr id="45" name="Text 41"/>
          <p:cNvSpPr/>
          <p:nvPr/>
        </p:nvSpPr>
        <p:spPr>
          <a:xfrm>
            <a:off x="4047716" y="3175397"/>
            <a:ext cx="1222167" cy="455414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0.016664</a:t>
            </a:r>
            <a:endParaRPr lang="en-US" sz="987" dirty="0"/>
          </a:p>
        </p:txBody>
      </p:sp>
      <p:sp>
        <p:nvSpPr>
          <p:cNvPr id="46" name="Text 42"/>
          <p:cNvSpPr/>
          <p:nvPr/>
        </p:nvSpPr>
        <p:spPr>
          <a:xfrm>
            <a:off x="5269883" y="3175397"/>
            <a:ext cx="1134573" cy="455414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0.008210</a:t>
            </a:r>
            <a:endParaRPr lang="en-US" sz="987" dirty="0"/>
          </a:p>
        </p:txBody>
      </p:sp>
      <p:sp>
        <p:nvSpPr>
          <p:cNvPr id="47" name="Text 43"/>
          <p:cNvSpPr/>
          <p:nvPr/>
        </p:nvSpPr>
        <p:spPr>
          <a:xfrm>
            <a:off x="6404456" y="3175397"/>
            <a:ext cx="1134573" cy="455414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0.017321</a:t>
            </a:r>
            <a:endParaRPr lang="en-US" sz="987" dirty="0"/>
          </a:p>
        </p:txBody>
      </p:sp>
      <p:sp>
        <p:nvSpPr>
          <p:cNvPr id="48" name="Text 44"/>
          <p:cNvSpPr/>
          <p:nvPr/>
        </p:nvSpPr>
        <p:spPr>
          <a:xfrm>
            <a:off x="7539028" y="3175397"/>
            <a:ext cx="1176347" cy="455414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0.4606</a:t>
            </a:r>
            <a:endParaRPr lang="en-US" sz="987" dirty="0"/>
          </a:p>
        </p:txBody>
      </p:sp>
      <p:sp>
        <p:nvSpPr>
          <p:cNvPr id="49" name="Shape 45"/>
          <p:cNvSpPr/>
          <p:nvPr/>
        </p:nvSpPr>
        <p:spPr>
          <a:xfrm>
            <a:off x="428625" y="3745117"/>
            <a:ext cx="8286750" cy="132617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4062757"/>
            <a:ext cx="214313" cy="285750"/>
          </a:xfrm>
          <a:prstGeom prst="rect">
            <a:avLst/>
          </a:prstGeom>
        </p:spPr>
      </p:pic>
      <p:sp>
        <p:nvSpPr>
          <p:cNvPr id="51" name="Text 46"/>
          <p:cNvSpPr/>
          <p:nvPr/>
        </p:nvSpPr>
        <p:spPr>
          <a:xfrm>
            <a:off x="1143000" y="4000249"/>
            <a:ext cx="735806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 Rule &amp; Interpretation</a:t>
            </a:r>
            <a:endParaRPr lang="en-US" sz="1193" dirty="0"/>
          </a:p>
        </p:txBody>
      </p:sp>
      <p:sp>
        <p:nvSpPr>
          <p:cNvPr id="52" name="Text 47"/>
          <p:cNvSpPr/>
          <p:nvPr/>
        </p:nvSpPr>
        <p:spPr>
          <a:xfrm>
            <a:off x="1143000" y="4280642"/>
            <a:ext cx="73580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r>
              <a:rPr lang="en-US" sz="885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 Ensemble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selected as the production candidate, achieving the highest ranking quality (NDCG@10). While </a:t>
            </a:r>
            <a:r>
              <a:rPr lang="en-US" sz="885" b="1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Truncated SVD</a:t>
            </a: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offers superior catalog coverage (78%), the ensemble provides the best balance of relevance and exposure. Content-based signals are retained primarily for cold-start mitigation.</a:t>
            </a:r>
            <a:endParaRPr lang="en-US" sz="942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23255"/>
            <a:ext cx="257175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28675" y="285750"/>
            <a:ext cx="7002661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 Feature Importance &amp; Explainability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428625" y="846534"/>
            <a:ext cx="4364162" cy="4296966"/>
          </a:xfrm>
          <a:prstGeom prst="rect">
            <a:avLst/>
          </a:prstGeom>
          <a:solidFill>
            <a:srgbClr val="F8FAFC"/>
          </a:solidFill>
          <a:ln w="9144">
            <a:solidFill>
              <a:srgbClr val="E2E8F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2938" y="1060847"/>
            <a:ext cx="3935537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 Predictors (Permutation Importance)</a:t>
            </a:r>
            <a:endParaRPr lang="en-US" sz="1193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1412677"/>
            <a:ext cx="3920133" cy="3214688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5078537" y="846534"/>
            <a:ext cx="3636838" cy="11840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4"/>
          <p:cNvSpPr/>
          <p:nvPr/>
        </p:nvSpPr>
        <p:spPr>
          <a:xfrm>
            <a:off x="5078537" y="846534"/>
            <a:ext cx="42863" cy="1184077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9987" y="1049238"/>
            <a:ext cx="160734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2158" y="1017984"/>
            <a:ext cx="195560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Neighborhood CF (KNN)</a:t>
            </a:r>
            <a:endParaRPr lang="en-US" sz="1090" dirty="0"/>
          </a:p>
        </p:txBody>
      </p:sp>
      <p:sp>
        <p:nvSpPr>
          <p:cNvPr id="12" name="Text 6"/>
          <p:cNvSpPr/>
          <p:nvPr/>
        </p:nvSpPr>
        <p:spPr>
          <a:xfrm>
            <a:off x="5249987" y="1280517"/>
            <a:ext cx="32939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Directly explainable via item similarity: "Users who liked Movie A also liked Movie B." Uses cosine similarity in interaction space.</a:t>
            </a:r>
            <a:endParaRPr lang="en-US" sz="942" dirty="0"/>
          </a:p>
        </p:txBody>
      </p:sp>
      <p:sp>
        <p:nvSpPr>
          <p:cNvPr id="13" name="Shape 7"/>
          <p:cNvSpPr/>
          <p:nvPr/>
        </p:nvSpPr>
        <p:spPr>
          <a:xfrm>
            <a:off x="5078537" y="2173486"/>
            <a:ext cx="3636838" cy="11840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8"/>
          <p:cNvSpPr/>
          <p:nvPr/>
        </p:nvSpPr>
        <p:spPr>
          <a:xfrm>
            <a:off x="5078537" y="2173486"/>
            <a:ext cx="42863" cy="1184077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49987" y="2376190"/>
            <a:ext cx="128588" cy="1285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50012" y="2344936"/>
            <a:ext cx="165913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Latent Factors (SVD)</a:t>
            </a:r>
            <a:endParaRPr lang="en-US" sz="1090" dirty="0"/>
          </a:p>
        </p:txBody>
      </p:sp>
      <p:sp>
        <p:nvSpPr>
          <p:cNvPr id="17" name="Text 10"/>
          <p:cNvSpPr/>
          <p:nvPr/>
        </p:nvSpPr>
        <p:spPr>
          <a:xfrm>
            <a:off x="5249987" y="2607469"/>
            <a:ext cx="32939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Captures abstract dimensions of user taste and item characteristics. Explainable through cluster analysis of latent vectors.</a:t>
            </a:r>
            <a:endParaRPr lang="en-US" sz="942" dirty="0"/>
          </a:p>
        </p:txBody>
      </p:sp>
      <p:sp>
        <p:nvSpPr>
          <p:cNvPr id="18" name="Shape 11"/>
          <p:cNvSpPr/>
          <p:nvPr/>
        </p:nvSpPr>
        <p:spPr>
          <a:xfrm>
            <a:off x="5078537" y="3500438"/>
            <a:ext cx="3636838" cy="118407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2"/>
          <p:cNvSpPr/>
          <p:nvPr/>
        </p:nvSpPr>
        <p:spPr>
          <a:xfrm>
            <a:off x="5078537" y="3500438"/>
            <a:ext cx="42863" cy="1184077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9987" y="3703141"/>
            <a:ext cx="128588" cy="12858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450012" y="3671888"/>
            <a:ext cx="131980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 Reranker</a:t>
            </a:r>
            <a:endParaRPr lang="en-US" sz="1090" dirty="0"/>
          </a:p>
        </p:txBody>
      </p:sp>
      <p:sp>
        <p:nvSpPr>
          <p:cNvPr id="22" name="Text 14"/>
          <p:cNvSpPr/>
          <p:nvPr/>
        </p:nvSpPr>
        <p:spPr>
          <a:xfrm>
            <a:off x="5249987" y="3934420"/>
            <a:ext cx="329393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Uses Permutation Importance to quantify the contribution of engineered features, ensuring transparency in the final ensemble decision.</a:t>
            </a:r>
            <a:endParaRPr lang="en-US" sz="942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4692"/>
            <a:ext cx="342900" cy="3429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7275" y="357188"/>
            <a:ext cx="5229225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7. Limitations &amp; Future Work</a:t>
            </a:r>
            <a:endParaRPr lang="en-US" sz="2436" dirty="0"/>
          </a:p>
        </p:txBody>
      </p:sp>
      <p:sp>
        <p:nvSpPr>
          <p:cNvPr id="5" name="Shape 1"/>
          <p:cNvSpPr/>
          <p:nvPr/>
        </p:nvSpPr>
        <p:spPr>
          <a:xfrm>
            <a:off x="571500" y="1060847"/>
            <a:ext cx="3786188" cy="34968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2"/>
          <p:cNvSpPr/>
          <p:nvPr/>
        </p:nvSpPr>
        <p:spPr>
          <a:xfrm>
            <a:off x="571500" y="1060847"/>
            <a:ext cx="3786188" cy="42863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" y="1400175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35856" y="1346597"/>
            <a:ext cx="2293144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Limitations</a:t>
            </a:r>
            <a:endParaRPr lang="en-US" sz="1602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1868091"/>
            <a:ext cx="128588" cy="5715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92994" y="1839516"/>
            <a:ext cx="29789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Cold Start:</a:t>
            </a: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Persistent challenge for new users and items with zero interaction history.</a:t>
            </a:r>
            <a:endParaRPr lang="en-US" sz="987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2639616"/>
            <a:ext cx="128588" cy="57150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92994" y="2611041"/>
            <a:ext cx="29789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Proxy Gap:</a:t>
            </a: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MovieLens lacks eCommerce signals like "add-to-cart" or price sensitivity.</a:t>
            </a:r>
            <a:endParaRPr lang="en-US" sz="987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411141"/>
            <a:ext cx="128588" cy="5715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92994" y="3382566"/>
            <a:ext cx="29789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 Metrics:</a:t>
            </a: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Ranking scores are proxies; true business value requires online A/B testing.</a:t>
            </a:r>
            <a:endParaRPr lang="en-US" sz="987" dirty="0"/>
          </a:p>
        </p:txBody>
      </p:sp>
      <p:sp>
        <p:nvSpPr>
          <p:cNvPr id="15" name="Shape 7"/>
          <p:cNvSpPr/>
          <p:nvPr/>
        </p:nvSpPr>
        <p:spPr>
          <a:xfrm>
            <a:off x="4786313" y="1060847"/>
            <a:ext cx="3786188" cy="34968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8"/>
          <p:cNvSpPr/>
          <p:nvPr/>
        </p:nvSpPr>
        <p:spPr>
          <a:xfrm>
            <a:off x="4786313" y="1060847"/>
            <a:ext cx="3786188" cy="42863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2063" y="1400175"/>
            <a:ext cx="171450" cy="17145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350669" y="1346597"/>
            <a:ext cx="2643188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Enhancements</a:t>
            </a:r>
            <a:endParaRPr lang="en-US" sz="1602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2063" y="1868091"/>
            <a:ext cx="128588" cy="5715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5307806" y="1839516"/>
            <a:ext cx="29789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 Signals:</a:t>
            </a: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Integrate real-time intent and sequence modeling (e.g., GRU4Rec).</a:t>
            </a:r>
            <a:endParaRPr lang="en-US" sz="987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2063" y="2639616"/>
            <a:ext cx="160734" cy="5715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5339953" y="2611041"/>
            <a:ext cx="2946797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Bias Mitigation:</a:t>
            </a: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Implement popularity-aware reranking to improve long-tail exposure.</a:t>
            </a:r>
            <a:endParaRPr lang="en-US" sz="987" dirty="0"/>
          </a:p>
        </p:txBody>
      </p:sp>
      <p:pic>
        <p:nvPicPr>
          <p:cNvPr id="2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2063" y="3411141"/>
            <a:ext cx="128588" cy="57150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5307806" y="3382566"/>
            <a:ext cx="2978944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Deep Learning:</a:t>
            </a:r>
            <a:r>
              <a:rPr lang="en-US" sz="1050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Explore Neural Collaborative Filtering for non-linear interaction modeling.</a:t>
            </a:r>
            <a:endParaRPr lang="en-US" sz="987" dirty="0"/>
          </a:p>
        </p:txBody>
      </p:sp>
      <p:sp>
        <p:nvSpPr>
          <p:cNvPr id="25" name="Shape 13"/>
          <p:cNvSpPr/>
          <p:nvPr/>
        </p:nvSpPr>
        <p:spPr>
          <a:xfrm>
            <a:off x="0" y="4557713"/>
            <a:ext cx="9144000" cy="58578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14"/>
          <p:cNvSpPr/>
          <p:nvPr/>
        </p:nvSpPr>
        <p:spPr>
          <a:xfrm>
            <a:off x="0" y="4557713"/>
            <a:ext cx="9144000" cy="660181"/>
          </a:xfrm>
          <a:prstGeom prst="rect">
            <a:avLst/>
          </a:prstGeom>
          <a:noFill/>
          <a:ln/>
        </p:spPr>
        <p:txBody>
          <a:bodyPr wrap="square" lIns="680339" tIns="255143" rIns="680339" bIns="255143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TOWARDS A PRODUCTION-READY RECOMMENDATION ENGINE</a:t>
            </a:r>
            <a:endParaRPr lang="en-US" sz="88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685</Words>
  <Application>Microsoft Office PowerPoint</Application>
  <PresentationFormat>On-screen Show (16:9)</PresentationFormat>
  <Paragraphs>126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monospace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MovieLens_Recommender_Technical_Presentation</dc:title>
  <dc:subject>MovieLens_Recommender_Technical_Presentation</dc:subject>
  <dc:creator>Dinesh Jangir</dc:creator>
  <cp:lastModifiedBy>Dinesh Jangir</cp:lastModifiedBy>
  <cp:revision>3</cp:revision>
  <dcterms:created xsi:type="dcterms:W3CDTF">2026-04-06T02:56:50Z</dcterms:created>
  <dcterms:modified xsi:type="dcterms:W3CDTF">2026-04-06T03:16:28Z</dcterms:modified>
</cp:coreProperties>
</file>