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543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5.jpe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786008"/>
            <a:ext cx="4629150" cy="1272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Problem:
Addressing the "Discovery Gap"</a:t>
            </a:r>
            <a:endParaRPr lang="en-US" sz="275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373316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344741"/>
            <a:ext cx="43434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Friction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14375" y="2594772"/>
            <a:ext cx="43434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are overwhelmed by choices but fail to find relevant products, leading to "decision fatigue" and cart abandonment.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542925" y="3066259"/>
            <a:ext cx="45148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Loss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42925" y="3316291"/>
            <a:ext cx="4514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platforms lose significant potential revenue due to poor product discovery and low engagement.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28625" y="3844928"/>
            <a:ext cx="4629150" cy="798314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3844928"/>
            <a:ext cx="42863" cy="79831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557213" y="3973516"/>
            <a:ext cx="43719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Bottom-Line Impact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557213" y="4203902"/>
            <a:ext cx="43719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estimates suggest up to 30% of revenue is lost due to inadequate personalization and discovery mechanisms.</a:t>
            </a:r>
            <a:endParaRPr lang="en-US" sz="885" dirty="0"/>
          </a:p>
        </p:txBody>
      </p:sp>
      <p:sp>
        <p:nvSpPr>
          <p:cNvPr id="14" name="Shape 1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217340"/>
            <a:ext cx="1714500" cy="1143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72150" y="2503215"/>
            <a:ext cx="3086100" cy="142294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00738" y="2638946"/>
            <a:ext cx="28289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Opportunity</a:t>
            </a:r>
            <a:endParaRPr lang="en-US" sz="1397" dirty="0"/>
          </a:p>
        </p:txBody>
      </p:sp>
      <p:sp>
        <p:nvSpPr>
          <p:cNvPr id="18" name="Text 13"/>
          <p:cNvSpPr/>
          <p:nvPr/>
        </p:nvSpPr>
        <p:spPr>
          <a:xfrm>
            <a:off x="5900738" y="2967558"/>
            <a:ext cx="28289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from a static catalog to a dynamic, personalized experience to increase Average Order Value (AOV) and Customer Lifetime Value (CLV).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Strategic Approach:
Data-Driven Personalization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764506"/>
            <a:ext cx="2476481" cy="20158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764506"/>
            <a:ext cx="2476481" cy="42863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428" y="1964531"/>
            <a:ext cx="428625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1525" y="2421731"/>
            <a:ext cx="20764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Collaborative Insights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771525" y="2714625"/>
            <a:ext cx="20764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from "customers like you" to predict future interests based on historical behavior patterns.</a:t>
            </a:r>
            <a:endParaRPr lang="en-US" sz="942" dirty="0"/>
          </a:p>
        </p:txBody>
      </p:sp>
      <p:sp>
        <p:nvSpPr>
          <p:cNvPr id="10" name="Shape 5"/>
          <p:cNvSpPr/>
          <p:nvPr/>
        </p:nvSpPr>
        <p:spPr>
          <a:xfrm>
            <a:off x="3333731" y="1764506"/>
            <a:ext cx="2476509" cy="19730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3333731" y="1764506"/>
            <a:ext cx="2476509" cy="42863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22" y="1964531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33756" y="2421731"/>
            <a:ext cx="20764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Matching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3533756" y="2714625"/>
            <a:ext cx="20764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Surfacing products based on unique attributes, ensuring new and niche items are discovered.</a:t>
            </a:r>
            <a:endParaRPr lang="en-US" sz="942" dirty="0"/>
          </a:p>
        </p:txBody>
      </p:sp>
      <p:sp>
        <p:nvSpPr>
          <p:cNvPr id="15" name="Shape 9"/>
          <p:cNvSpPr/>
          <p:nvPr/>
        </p:nvSpPr>
        <p:spPr>
          <a:xfrm>
            <a:off x="6095991" y="1764506"/>
            <a:ext cx="2476481" cy="19730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6095991" y="1764506"/>
            <a:ext cx="2476481" cy="42863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919" y="1964531"/>
            <a:ext cx="428625" cy="342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96016" y="2421731"/>
            <a:ext cx="20764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Exposure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6296016" y="2714625"/>
            <a:ext cx="20764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the mix of popular best-sellers and "hidden gems" to maximize total catalog discovery.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571500" y="3951833"/>
            <a:ext cx="8001000" cy="632222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153644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57288" y="4094708"/>
            <a:ext cx="72723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We deploy a "Hybrid Intelligence" engine that bridges customer behavior with product DNA for a superior shopping experience.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Findings:
Understanding Customer Behavior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693069"/>
            <a:ext cx="8001000" cy="907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693069"/>
            <a:ext cx="57150" cy="9072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3"/>
          <p:cNvSpPr/>
          <p:nvPr/>
        </p:nvSpPr>
        <p:spPr>
          <a:xfrm>
            <a:off x="700088" y="1844873"/>
            <a:ext cx="1143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2755" dirty="0"/>
          </a:p>
        </p:txBody>
      </p:sp>
      <p:sp>
        <p:nvSpPr>
          <p:cNvPr id="8" name="Text 4"/>
          <p:cNvSpPr/>
          <p:nvPr/>
        </p:nvSpPr>
        <p:spPr>
          <a:xfrm>
            <a:off x="877788" y="2325291"/>
            <a:ext cx="7875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2128838" y="1821656"/>
            <a:ext cx="57435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Feedback Loops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2128838" y="2085975"/>
            <a:ext cx="5743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of users provide high-quality explicit feedback, which serves as a critical predictor for future purchasing behavior and preference mapping.</a:t>
            </a:r>
            <a:endParaRPr lang="en-US" sz="94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63" y="2032397"/>
            <a:ext cx="285750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" y="2728913"/>
            <a:ext cx="8001000" cy="907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571500" y="2728913"/>
            <a:ext cx="57150" cy="9072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9"/>
          <p:cNvSpPr/>
          <p:nvPr/>
        </p:nvSpPr>
        <p:spPr>
          <a:xfrm>
            <a:off x="700088" y="2880717"/>
            <a:ext cx="1143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</a:t>
            </a:r>
            <a:endParaRPr lang="en-US" sz="2755" dirty="0"/>
          </a:p>
        </p:txBody>
      </p:sp>
      <p:sp>
        <p:nvSpPr>
          <p:cNvPr id="15" name="Text 10"/>
          <p:cNvSpPr/>
          <p:nvPr/>
        </p:nvSpPr>
        <p:spPr>
          <a:xfrm>
            <a:off x="778669" y="3361134"/>
            <a:ext cx="9858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2128838" y="2857500"/>
            <a:ext cx="58007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Popularity Bias Risk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2128838" y="3121819"/>
            <a:ext cx="58007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 of organic discovery is currently concentrated on just the top 10% of products, leaving a massive volume of "dead stock" in the long-tail catalog.</a:t>
            </a:r>
            <a:endParaRPr lang="en-US" sz="942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313" y="3068241"/>
            <a:ext cx="228600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71500" y="3764756"/>
            <a:ext cx="8001000" cy="9072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764756"/>
            <a:ext cx="57150" cy="9072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/>
          <p:nvPr/>
        </p:nvSpPr>
        <p:spPr>
          <a:xfrm>
            <a:off x="700088" y="3916561"/>
            <a:ext cx="1143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2755" dirty="0"/>
          </a:p>
        </p:txBody>
      </p:sp>
      <p:sp>
        <p:nvSpPr>
          <p:cNvPr id="22" name="Text 16"/>
          <p:cNvSpPr/>
          <p:nvPr/>
        </p:nvSpPr>
        <p:spPr>
          <a:xfrm>
            <a:off x="895648" y="4396978"/>
            <a:ext cx="7518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683" dirty="0"/>
          </a:p>
        </p:txBody>
      </p:sp>
      <p:sp>
        <p:nvSpPr>
          <p:cNvPr id="23" name="Text 17"/>
          <p:cNvSpPr/>
          <p:nvPr/>
        </p:nvSpPr>
        <p:spPr>
          <a:xfrm>
            <a:off x="2128838" y="3893344"/>
            <a:ext cx="58007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 Multiplier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2128838" y="4157663"/>
            <a:ext cx="58007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High-activity users are twice as likely to convert when presented with personalized rankings compared to static "Top Sellers" or generic lists.</a:t>
            </a:r>
            <a:endParaRPr lang="en-US" sz="942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313" y="410408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Results: Translating Accuracy
to Business Value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621631"/>
            <a:ext cx="2571750" cy="95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621631"/>
            <a:ext cx="2571750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3"/>
          <p:cNvSpPr/>
          <p:nvPr/>
        </p:nvSpPr>
        <p:spPr>
          <a:xfrm>
            <a:off x="750094" y="1800225"/>
            <a:ext cx="221456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+41%</a:t>
            </a:r>
            <a:endParaRPr lang="en-US" sz="2436" dirty="0"/>
          </a:p>
        </p:txBody>
      </p:sp>
      <p:sp>
        <p:nvSpPr>
          <p:cNvPr id="8" name="Text 4"/>
          <p:cNvSpPr/>
          <p:nvPr/>
        </p:nvSpPr>
        <p:spPr>
          <a:xfrm>
            <a:off x="1381423" y="2214563"/>
            <a:ext cx="95190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RELEVANCE LIFT</a:t>
            </a:r>
            <a:endParaRPr lang="en-US" sz="784" dirty="0"/>
          </a:p>
        </p:txBody>
      </p:sp>
      <p:sp>
        <p:nvSpPr>
          <p:cNvPr id="9" name="Shape 5"/>
          <p:cNvSpPr/>
          <p:nvPr/>
        </p:nvSpPr>
        <p:spPr>
          <a:xfrm>
            <a:off x="3286125" y="1621631"/>
            <a:ext cx="2571750" cy="95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286125" y="1621631"/>
            <a:ext cx="2571750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3464719" y="1800225"/>
            <a:ext cx="221456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46%</a:t>
            </a:r>
            <a:endParaRPr lang="en-US" sz="2436" dirty="0"/>
          </a:p>
        </p:txBody>
      </p:sp>
      <p:sp>
        <p:nvSpPr>
          <p:cNvPr id="12" name="Text 8"/>
          <p:cNvSpPr/>
          <p:nvPr/>
        </p:nvSpPr>
        <p:spPr>
          <a:xfrm>
            <a:off x="3950494" y="2214563"/>
            <a:ext cx="12430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DISCOVERY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6000750" y="1621631"/>
            <a:ext cx="2571750" cy="95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6000750" y="1621631"/>
            <a:ext cx="2571750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6179344" y="1800225"/>
            <a:ext cx="221456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2436" dirty="0"/>
          </a:p>
        </p:txBody>
      </p:sp>
      <p:sp>
        <p:nvSpPr>
          <p:cNvPr id="16" name="Text 12"/>
          <p:cNvSpPr/>
          <p:nvPr/>
        </p:nvSpPr>
        <p:spPr>
          <a:xfrm>
            <a:off x="6559748" y="2214563"/>
            <a:ext cx="14537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POTENTIAL</a:t>
            </a:r>
            <a:endParaRPr lang="en-US" sz="784" dirty="0"/>
          </a:p>
        </p:txBody>
      </p:sp>
      <p:sp>
        <p:nvSpPr>
          <p:cNvPr id="17" name="Shape 13"/>
          <p:cNvSpPr/>
          <p:nvPr/>
        </p:nvSpPr>
        <p:spPr>
          <a:xfrm>
            <a:off x="571500" y="2744986"/>
            <a:ext cx="4629150" cy="239851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59286"/>
            <a:ext cx="4386263" cy="18573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0" y="2744986"/>
            <a:ext cx="3086100" cy="239851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5657850" y="3272786"/>
            <a:ext cx="27432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of Hybrid Intelligence</a:t>
            </a:r>
            <a:endParaRPr lang="en-US" sz="1193" dirty="0"/>
          </a:p>
        </p:txBody>
      </p:sp>
      <p:sp>
        <p:nvSpPr>
          <p:cNvPr id="21" name="Text 16"/>
          <p:cNvSpPr/>
          <p:nvPr/>
        </p:nvSpPr>
        <p:spPr>
          <a:xfrm>
            <a:off x="5657850" y="3587111"/>
            <a:ext cx="27432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Hybrid Ensemble significantly outperforms standard "Top Seller" lists by balancing individual customer preferences with broader market trends, ensuring a 41% improvement in recommendation quality.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Recommendations:
Implementation Roadmap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764506"/>
            <a:ext cx="2524116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764506"/>
            <a:ext cx="2524116" cy="4286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978819"/>
            <a:ext cx="20954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785813" y="2207419"/>
            <a:ext cx="20954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Rollout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85813" y="2521744"/>
            <a:ext cx="209549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Hybrid Ensemble as the primary engine for logged-in users to maximize immediate relevance and engagement.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309928" y="1764506"/>
            <a:ext cx="2524116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764506"/>
            <a:ext cx="2524116" cy="4286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8"/>
          <p:cNvSpPr/>
          <p:nvPr/>
        </p:nvSpPr>
        <p:spPr>
          <a:xfrm>
            <a:off x="3524241" y="1978819"/>
            <a:ext cx="20954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3524241" y="2207419"/>
            <a:ext cx="20954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Long-Tail Promotion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3524241" y="2521744"/>
            <a:ext cx="209549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popularity-aware reranking to actively surface high-margin niche products and reduce catalog concentration.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6048356" y="1764506"/>
            <a:ext cx="2524144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048356" y="1764506"/>
            <a:ext cx="2524144" cy="4286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6262669" y="1978819"/>
            <a:ext cx="20955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6262669" y="2207419"/>
            <a:ext cx="20955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Adaptation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6262669" y="2521744"/>
            <a:ext cx="20955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session-based signals to react to "in-the-moment" customer intent and browsing behavior.</a:t>
            </a:r>
            <a:endParaRPr lang="en-US" sz="942" dirty="0"/>
          </a:p>
        </p:txBody>
      </p:sp>
      <p:sp>
        <p:nvSpPr>
          <p:cNvPr id="20" name="Shape 16"/>
          <p:cNvSpPr/>
          <p:nvPr/>
        </p:nvSpPr>
        <p:spPr>
          <a:xfrm>
            <a:off x="571500" y="3793331"/>
            <a:ext cx="8001000" cy="93404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025503"/>
            <a:ext cx="192881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5850" y="4007644"/>
            <a:ext cx="41558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Monitoring: Key Performance Indicators</a:t>
            </a:r>
            <a:endParaRPr lang="en-US" sz="1193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363938"/>
            <a:ext cx="89297" cy="1428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2266" y="4357688"/>
            <a:ext cx="2707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Click-Through Rate (CTR)</a:t>
            </a:r>
            <a:endParaRPr lang="en-US" sz="885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4363938"/>
            <a:ext cx="16073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82766" y="4357688"/>
            <a:ext cx="2278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Add-to-Cart from Recommendations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Strategic Considerations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185863"/>
            <a:ext cx="3893344" cy="1543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185863"/>
            <a:ext cx="3893344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1368028"/>
            <a:ext cx="250031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7281" y="1364456"/>
            <a:ext cx="21502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Cold-Start Challenge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750094" y="1678781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users with no history require "Popularity-Based" or "Trending" fallbacks until enough data is collected to personalize their experience.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2425303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1544" y="2413695"/>
            <a:ext cx="227349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Implement robust fallback logic</a:t>
            </a:r>
            <a:endParaRPr lang="en-US" sz="784" dirty="0"/>
          </a:p>
        </p:txBody>
      </p:sp>
      <p:sp>
        <p:nvSpPr>
          <p:cNvPr id="12" name="Shape 6"/>
          <p:cNvSpPr/>
          <p:nvPr/>
        </p:nvSpPr>
        <p:spPr>
          <a:xfrm>
            <a:off x="4679156" y="1185863"/>
            <a:ext cx="3893344" cy="1543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4679156" y="1185863"/>
            <a:ext cx="3893344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368028"/>
            <a:ext cx="175022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39928" y="1364456"/>
            <a:ext cx="20609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&amp; Feedback</a:t>
            </a:r>
            <a:endParaRPr lang="en-US" sz="1193" dirty="0"/>
          </a:p>
        </p:txBody>
      </p:sp>
      <p:sp>
        <p:nvSpPr>
          <p:cNvPr id="16" name="Text 9"/>
          <p:cNvSpPr/>
          <p:nvPr/>
        </p:nvSpPr>
        <p:spPr>
          <a:xfrm>
            <a:off x="4857750" y="1678781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monitoring of user feedback loops is essential to prevent "filter bubbles" and ensure the system adapts to changing preferences.</a:t>
            </a:r>
            <a:endParaRPr lang="en-US" sz="942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403872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29200" y="2392263"/>
            <a:ext cx="23324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Active feedback loop monitoring</a:t>
            </a:r>
            <a:endParaRPr lang="en-US" sz="784" dirty="0"/>
          </a:p>
        </p:txBody>
      </p:sp>
      <p:sp>
        <p:nvSpPr>
          <p:cNvPr id="19" name="Shape 11"/>
          <p:cNvSpPr/>
          <p:nvPr/>
        </p:nvSpPr>
        <p:spPr>
          <a:xfrm>
            <a:off x="571500" y="2922687"/>
            <a:ext cx="3893344" cy="15653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2"/>
          <p:cNvSpPr/>
          <p:nvPr/>
        </p:nvSpPr>
        <p:spPr>
          <a:xfrm>
            <a:off x="571500" y="2922687"/>
            <a:ext cx="3893344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104852"/>
            <a:ext cx="200025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7275" y="3101280"/>
            <a:ext cx="185380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Scaling</a:t>
            </a:r>
            <a:endParaRPr lang="en-US" sz="1193" dirty="0"/>
          </a:p>
        </p:txBody>
      </p:sp>
      <p:sp>
        <p:nvSpPr>
          <p:cNvPr id="23" name="Text 14"/>
          <p:cNvSpPr/>
          <p:nvPr/>
        </p:nvSpPr>
        <p:spPr>
          <a:xfrm>
            <a:off x="750094" y="3415605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personalization requires scalable cloud architecture to maintain low latency and high availability during peak traffic periods.</a:t>
            </a:r>
            <a:endParaRPr lang="en-US" sz="942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094" y="4183559"/>
            <a:ext cx="114300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21544" y="4171950"/>
            <a:ext cx="24449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Cloud-native scalable architecture</a:t>
            </a:r>
            <a:endParaRPr lang="en-US" sz="784" dirty="0"/>
          </a:p>
        </p:txBody>
      </p:sp>
      <p:sp>
        <p:nvSpPr>
          <p:cNvPr id="26" name="Shape 16"/>
          <p:cNvSpPr/>
          <p:nvPr/>
        </p:nvSpPr>
        <p:spPr>
          <a:xfrm>
            <a:off x="4679156" y="2922687"/>
            <a:ext cx="3893344" cy="15653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7"/>
          <p:cNvSpPr/>
          <p:nvPr/>
        </p:nvSpPr>
        <p:spPr>
          <a:xfrm>
            <a:off x="4679156" y="2922687"/>
            <a:ext cx="3893344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126284"/>
            <a:ext cx="250031" cy="20002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14938" y="3122712"/>
            <a:ext cx="13608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&amp; Ethics</a:t>
            </a:r>
            <a:endParaRPr lang="en-US" sz="1193" dirty="0"/>
          </a:p>
        </p:txBody>
      </p:sp>
      <p:sp>
        <p:nvSpPr>
          <p:cNvPr id="30" name="Text 19"/>
          <p:cNvSpPr/>
          <p:nvPr/>
        </p:nvSpPr>
        <p:spPr>
          <a:xfrm>
            <a:off x="4857750" y="3437037"/>
            <a:ext cx="35361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all recommendation logic complies with data protection regulations (GDPR/CCPA) and maintains transparency with customers.</a:t>
            </a:r>
            <a:endParaRPr lang="en-US" sz="942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4183559"/>
            <a:ext cx="114300" cy="1143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029200" y="4171950"/>
            <a:ext cx="24467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Privacy-by-design implementation</a:t>
            </a:r>
            <a:endParaRPr lang="en-US" sz="784" dirty="0"/>
          </a:p>
        </p:txBody>
      </p:sp>
      <p:sp>
        <p:nvSpPr>
          <p:cNvPr id="33" name="Shape 21"/>
          <p:cNvSpPr/>
          <p:nvPr/>
        </p:nvSpPr>
        <p:spPr>
          <a:xfrm>
            <a:off x="0" y="4702373"/>
            <a:ext cx="9144000" cy="44112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22"/>
          <p:cNvSpPr/>
          <p:nvPr/>
        </p:nvSpPr>
        <p:spPr>
          <a:xfrm>
            <a:off x="0" y="4702373"/>
            <a:ext cx="9144000" cy="441127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RISK MANAGEMENT ENSURES LONG-TERM SYSTEM RELIABILITY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714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 ROI Projection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278731"/>
            <a:ext cx="357188" cy="3571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127873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107281" y="1278731"/>
            <a:ext cx="32504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A/B Pilot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107281" y="1543050"/>
            <a:ext cx="32504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4-week controlled test comparing the Hybrid Engine against the current baseline to validate performance.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2336006"/>
            <a:ext cx="357188" cy="3571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23360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07281" y="2336006"/>
            <a:ext cx="32504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Production Rollout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1107281" y="2600325"/>
            <a:ext cx="32504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Following pilot success, deploy the engine across all high-traffic categories to capture immediate revenue uplift.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571500" y="3393281"/>
            <a:ext cx="357188" cy="35718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0"/>
          <p:cNvSpPr/>
          <p:nvPr/>
        </p:nvSpPr>
        <p:spPr>
          <a:xfrm>
            <a:off x="571500" y="33932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07281" y="3393281"/>
            <a:ext cx="32504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Omnichannel Scaling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1107281" y="3657600"/>
            <a:ext cx="32504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personalization to email marketing and push notifications to drive repeat-session likelihood.</a:t>
            </a:r>
            <a:endParaRPr lang="en-US" sz="942" dirty="0"/>
          </a:p>
        </p:txBody>
      </p:sp>
      <p:sp>
        <p:nvSpPr>
          <p:cNvPr id="17" name="Shape 13"/>
          <p:cNvSpPr/>
          <p:nvPr/>
        </p:nvSpPr>
        <p:spPr>
          <a:xfrm>
            <a:off x="4786313" y="1278731"/>
            <a:ext cx="3786188" cy="386476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4786313" y="1278731"/>
            <a:ext cx="3786188" cy="571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5072063" y="1564481"/>
            <a:ext cx="32146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BUSINESS VALUE</a:t>
            </a:r>
            <a:endParaRPr lang="en-US" sz="1397" dirty="0"/>
          </a:p>
        </p:txBody>
      </p:sp>
      <p:sp>
        <p:nvSpPr>
          <p:cNvPr id="20" name="Text 16"/>
          <p:cNvSpPr/>
          <p:nvPr/>
        </p:nvSpPr>
        <p:spPr>
          <a:xfrm>
            <a:off x="5072063" y="2021681"/>
            <a:ext cx="321468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+5-10%</a:t>
            </a:r>
            <a:endParaRPr lang="en-US" sz="2436" dirty="0"/>
          </a:p>
        </p:txBody>
      </p:sp>
      <p:sp>
        <p:nvSpPr>
          <p:cNvPr id="21" name="Text 17"/>
          <p:cNvSpPr/>
          <p:nvPr/>
        </p:nvSpPr>
        <p:spPr>
          <a:xfrm>
            <a:off x="5072063" y="2436019"/>
            <a:ext cx="13876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 Uplift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5072063" y="2805708"/>
            <a:ext cx="321468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2436" dirty="0"/>
          </a:p>
        </p:txBody>
      </p:sp>
      <p:sp>
        <p:nvSpPr>
          <p:cNvPr id="23" name="Text 19"/>
          <p:cNvSpPr/>
          <p:nvPr/>
        </p:nvSpPr>
        <p:spPr>
          <a:xfrm>
            <a:off x="5072063" y="3220045"/>
            <a:ext cx="1796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 Revenue Increase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5072063" y="4218384"/>
            <a:ext cx="3214688" cy="63936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LINE: Core revenue driver for modern eCommerce.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On-screen Show (16:9)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MovieLens_Recommender_Business_Presentation</dc:title>
  <dc:subject>MovieLens_Recommender_Technical_Presentation</dc:subject>
  <dc:creator>Dinesh Jangir</dc:creator>
  <cp:lastModifiedBy>Dinesh Jangir</cp:lastModifiedBy>
  <cp:revision>1</cp:revision>
  <dcterms:created xsi:type="dcterms:W3CDTF">2026-04-06T03:38:38Z</dcterms:created>
  <dcterms:modified xsi:type="dcterms:W3CDTF">2026-04-06T03:42:35Z</dcterms:modified>
</cp:coreProperties>
</file>